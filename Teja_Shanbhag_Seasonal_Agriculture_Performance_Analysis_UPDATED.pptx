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jfif" ContentType="image/j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notesMaster" Target="notesMasters/notesMaster1.xml"/><Relationship Id="rId20" Type="http://schemas.openxmlformats.org/officeDocument/2006/relationships/handoutMaster" Target="handoutMasters/handout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f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2.png"/><Relationship Id="rId3" Type="http://schemas.openxmlformats.org/officeDocument/2006/relationships/image" Target="../media/image1.jf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hyperlink" Target="https://github.com/tejashanbhag5/Seasonal_Agriculture_Performance_Analysi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jf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3400089" cy="861497"/>
          </a:xfrm>
        </p:spPr>
        <p:txBody>
          <a:bodyPr vert="horz" lIns="91440" tIns="45720" rIns="91440" bIns="45720" rtlCol="0" anchor="t">
            <a:normAutofit/>
          </a:bodyPr>
          <a:lstStyle/>
          <a:p>
            <a:r>
              <a:rPr>
                <a:latin typeface="Arial"/>
              </a:rPr>
              <a:t>Student Name: Teja Shanbhag</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r>
              <a:rPr>
                <a:latin typeface="Arial"/>
              </a:rPr>
              <a:t>Project Title: 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3176362" cy="646331"/>
          </a:xfrm>
          <a:prstGeom prst="rect">
            <a:avLst/>
          </a:prstGeom>
          <a:noFill/>
        </p:spPr>
        <p:txBody>
          <a:bodyPr wrap="square" rtlCol="0">
            <a:spAutoFit/>
          </a:bodyPr>
          <a:lstStyle/>
          <a:p>
            <a:r>
              <a:rPr>
                <a:latin typeface="Arial"/>
              </a:rPr>
              <a:t>AICTE STU ID: STU6a5e75021491c1784575234</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latin typeface="Arial"/>
              </a:rPr>
              <a:t>(</a:t>
            </a:r>
            <a:r>
              <a:rPr lang="en-US" sz="2800" dirty="0">
                <a:latin typeface="Arial"/>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latin typeface="Arial"/>
              </a:rPr>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a:latin typeface="Arial"/>
              </a:rPr>
              <a:t>Project Description</a:t>
            </a:r>
          </a:p>
          <a:p>
            <a:r>
              <a:rPr>
                <a:latin typeface="Arial"/>
              </a:rPr>
              <a:t>This project analyzes agricultural activities across Kharif, Rabi and Zaid seasons using the provided agricultural dataset. The analysis examines seasonal differences in crop yield, production, resource usage, environmental conditions and economic performance. The workflow includes data exploration, cleaning and preparation, statistical summaries, seasonal comparisons, relationship analysis and visualization. The findings are interpreted to identify meaningful seasonal patterns, variations and relationships that can support evidence-based agricultural planning.</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a:latin typeface="Arial"/>
              </a:rPr>
              <a:t>WHO ARE THE END USERS?</a:t>
            </a:r>
          </a:p>
          <a:p/>
          <a:p>
            <a:r>
              <a:rPr>
                <a:latin typeface="Arial"/>
              </a:rPr>
              <a:t>Agricultural stakeholders involved in seasonal planning and decision-making.</a:t>
            </a: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a:latin typeface="Arial"/>
              </a:rPr>
              <a:t>Technology Used</a:t>
            </a:r>
          </a:p>
          <a:p/>
          <a:p>
            <a:r>
              <a:rPr>
                <a:latin typeface="Arial"/>
              </a:rPr>
              <a:t>• Python</a:t>
            </a:r>
          </a:p>
          <a:p>
            <a:r>
              <a:rPr>
                <a:latin typeface="Arial"/>
              </a:rPr>
              <a:t>• Pandas</a:t>
            </a:r>
          </a:p>
          <a:p>
            <a:r>
              <a:rPr>
                <a:latin typeface="Arial"/>
              </a:rPr>
              <a:t>• Matplotlib</a:t>
            </a:r>
          </a:p>
          <a:p>
            <a:r>
              <a:rPr>
                <a:latin typeface="Arial"/>
              </a:rPr>
              <a:t>• Google Colab</a:t>
            </a:r>
          </a:p>
          <a:p>
            <a:r>
              <a:rPr>
                <a:latin typeface="Arial"/>
              </a:rPr>
              <a:t>• Jupyter Notebook (.ipynb)</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a:latin typeface="Arial"/>
              </a:rPr>
              <a:t>Result 1 — Seasonal Crop Yield</a:t>
            </a: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4" name="Picture 23" descr="result1_yield.png"/>
          <p:cNvPicPr>
            <a:picLocks noChangeAspect="1"/>
          </p:cNvPicPr>
          <p:nvPr/>
        </p:nvPicPr>
        <p:blipFill>
          <a:blip r:embed="rId3"/>
          <a:stretch>
            <a:fillRect/>
          </a:stretch>
        </p:blipFill>
        <p:spPr>
          <a:xfrm>
            <a:off x="914400" y="1417320"/>
            <a:ext cx="10332720" cy="4572000"/>
          </a:xfrm>
          <a:prstGeom prst="rect">
            <a:avLst/>
          </a:prstGeom>
        </p:spPr>
      </p:pic>
      <p:sp>
        <p:nvSpPr>
          <p:cNvPr id="25" name="TextBox 24"/>
          <p:cNvSpPr txBox="1"/>
          <p:nvPr/>
        </p:nvSpPr>
        <p:spPr>
          <a:xfrm>
            <a:off x="914400" y="5989320"/>
            <a:ext cx="10332720" cy="594360"/>
          </a:xfrm>
          <a:prstGeom prst="rect">
            <a:avLst/>
          </a:prstGeom>
          <a:noFill/>
        </p:spPr>
        <p:txBody>
          <a:bodyPr wrap="none">
            <a:spAutoFit/>
          </a:bodyPr>
          <a:lstStyle/>
          <a:p>
            <a:pPr algn="ctr"/>
            <a:r>
              <a:rPr sz="1400" b="1">
                <a:latin typeface="Arial"/>
              </a:rPr>
              <a:t>Kharif has the highest average crop yield at 5.64 tonnes/ha.</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a:latin typeface="Arial"/>
              </a:rPr>
              <a:t>Result 2 — Seasonal Profit</a:t>
            </a:r>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latin typeface="Arial"/>
              </a:rPr>
              <a:t>[Add screen shots of your code ]</a:t>
            </a:r>
            <a:endParaRPr lang="en-IN" dirty="0"/>
          </a:p>
        </p:txBody>
      </p:sp>
      <p:pic>
        <p:nvPicPr>
          <p:cNvPr id="31" name="Picture 30" descr="result2_profit.png"/>
          <p:cNvPicPr>
            <a:picLocks noChangeAspect="1"/>
          </p:cNvPicPr>
          <p:nvPr/>
        </p:nvPicPr>
        <p:blipFill>
          <a:blip r:embed="rId3"/>
          <a:stretch>
            <a:fillRect/>
          </a:stretch>
        </p:blipFill>
        <p:spPr>
          <a:xfrm>
            <a:off x="914400" y="1417320"/>
            <a:ext cx="10332720" cy="4572000"/>
          </a:xfrm>
          <a:prstGeom prst="rect">
            <a:avLst/>
          </a:prstGeom>
        </p:spPr>
      </p:pic>
      <p:sp>
        <p:nvSpPr>
          <p:cNvPr id="32" name="TextBox 31"/>
          <p:cNvSpPr txBox="1"/>
          <p:nvPr/>
        </p:nvSpPr>
        <p:spPr>
          <a:xfrm>
            <a:off x="914400" y="5989320"/>
            <a:ext cx="10332720" cy="594360"/>
          </a:xfrm>
          <a:prstGeom prst="rect">
            <a:avLst/>
          </a:prstGeom>
          <a:noFill/>
        </p:spPr>
        <p:txBody>
          <a:bodyPr wrap="none">
            <a:spAutoFit/>
          </a:bodyPr>
          <a:lstStyle/>
          <a:p>
            <a:pPr algn="ctr"/>
            <a:r>
              <a:rPr sz="1400" b="1">
                <a:latin typeface="Arial"/>
              </a:rPr>
              <a:t>Kharif has the highest average profit at ₹178,915.</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a:latin typeface="Arial"/>
              </a:rPr>
              <a:t>Result 3 — Seasonal Water Usage</a:t>
            </a:r>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latin typeface="Arial"/>
              </a:rPr>
              <a:t>[Add screen shots of your code ]</a:t>
            </a:r>
            <a:endParaRPr lang="en-IN" dirty="0"/>
          </a:p>
        </p:txBody>
      </p:sp>
      <p:pic>
        <p:nvPicPr>
          <p:cNvPr id="31" name="Picture 30" descr="result3_water.png"/>
          <p:cNvPicPr>
            <a:picLocks noChangeAspect="1"/>
          </p:cNvPicPr>
          <p:nvPr/>
        </p:nvPicPr>
        <p:blipFill>
          <a:blip r:embed="rId3"/>
          <a:stretch>
            <a:fillRect/>
          </a:stretch>
        </p:blipFill>
        <p:spPr>
          <a:xfrm>
            <a:off x="914400" y="1417320"/>
            <a:ext cx="10332720" cy="4572000"/>
          </a:xfrm>
          <a:prstGeom prst="rect">
            <a:avLst/>
          </a:prstGeom>
        </p:spPr>
      </p:pic>
      <p:sp>
        <p:nvSpPr>
          <p:cNvPr id="32" name="TextBox 31"/>
          <p:cNvSpPr txBox="1"/>
          <p:nvPr/>
        </p:nvSpPr>
        <p:spPr>
          <a:xfrm>
            <a:off x="914400" y="5989320"/>
            <a:ext cx="10332720" cy="594360"/>
          </a:xfrm>
          <a:prstGeom prst="rect">
            <a:avLst/>
          </a:prstGeom>
          <a:noFill/>
        </p:spPr>
        <p:txBody>
          <a:bodyPr wrap="none">
            <a:spAutoFit/>
          </a:bodyPr>
          <a:lstStyle/>
          <a:p>
            <a:pPr algn="ctr"/>
            <a:r>
              <a:rPr sz="1400" b="1">
                <a:latin typeface="Arial"/>
              </a:rPr>
              <a:t>Zaid has the highest average water usage at 6,420 m³.</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a:latin typeface="Arial"/>
              </a:rPr>
              <a:t>Result 4 — Water Efficiency by Crop</a:t>
            </a:r>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latin typeface="Arial"/>
              </a:rPr>
              <a:t>[Add screen shots of your code ]</a:t>
            </a:r>
            <a:endParaRPr lang="en-IN" dirty="0"/>
          </a:p>
        </p:txBody>
      </p:sp>
      <p:pic>
        <p:nvPicPr>
          <p:cNvPr id="31" name="Picture 30" descr="result4_efficiency.png"/>
          <p:cNvPicPr>
            <a:picLocks noChangeAspect="1"/>
          </p:cNvPicPr>
          <p:nvPr/>
        </p:nvPicPr>
        <p:blipFill>
          <a:blip r:embed="rId3"/>
          <a:stretch>
            <a:fillRect/>
          </a:stretch>
        </p:blipFill>
        <p:spPr>
          <a:xfrm>
            <a:off x="914400" y="1417320"/>
            <a:ext cx="10332720" cy="4572000"/>
          </a:xfrm>
          <a:prstGeom prst="rect">
            <a:avLst/>
          </a:prstGeom>
        </p:spPr>
      </p:pic>
      <p:sp>
        <p:nvSpPr>
          <p:cNvPr id="32" name="TextBox 31"/>
          <p:cNvSpPr txBox="1"/>
          <p:nvPr/>
        </p:nvSpPr>
        <p:spPr>
          <a:xfrm>
            <a:off x="914400" y="5989320"/>
            <a:ext cx="10332720" cy="594360"/>
          </a:xfrm>
          <a:prstGeom prst="rect">
            <a:avLst/>
          </a:prstGeom>
          <a:noFill/>
        </p:spPr>
        <p:txBody>
          <a:bodyPr wrap="none">
            <a:spAutoFit/>
          </a:bodyPr>
          <a:lstStyle/>
          <a:p>
            <a:pPr algn="ctr"/>
            <a:r>
              <a:rPr sz="1400" b="1">
                <a:latin typeface="Arial"/>
              </a:rPr>
              <a:t>Sugarcane has the highest average water efficiency among the crops shown, at 30.48 tonnes per 1000 m³.</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a:latin typeface="Arial"/>
              </a:rPr>
              <a:t>Result 5 — Rainfall and Crop Yield</a:t>
            </a:r>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latin typeface="Arial"/>
              </a:rPr>
              <a:t>[Add screen shots of your code ]</a:t>
            </a:r>
            <a:endParaRPr lang="en-IN" dirty="0"/>
          </a:p>
        </p:txBody>
      </p:sp>
      <p:pic>
        <p:nvPicPr>
          <p:cNvPr id="31" name="Picture 30" descr="result5_rainfall_yield.png"/>
          <p:cNvPicPr>
            <a:picLocks noChangeAspect="1"/>
          </p:cNvPicPr>
          <p:nvPr/>
        </p:nvPicPr>
        <p:blipFill>
          <a:blip r:embed="rId3"/>
          <a:stretch>
            <a:fillRect/>
          </a:stretch>
        </p:blipFill>
        <p:spPr>
          <a:xfrm>
            <a:off x="914400" y="1417320"/>
            <a:ext cx="10332720" cy="4572000"/>
          </a:xfrm>
          <a:prstGeom prst="rect">
            <a:avLst/>
          </a:prstGeom>
        </p:spPr>
      </p:pic>
      <p:sp>
        <p:nvSpPr>
          <p:cNvPr id="32" name="TextBox 31"/>
          <p:cNvSpPr txBox="1"/>
          <p:nvPr/>
        </p:nvSpPr>
        <p:spPr>
          <a:xfrm>
            <a:off x="914400" y="5989320"/>
            <a:ext cx="10332720" cy="594360"/>
          </a:xfrm>
          <a:prstGeom prst="rect">
            <a:avLst/>
          </a:prstGeom>
          <a:noFill/>
        </p:spPr>
        <p:txBody>
          <a:bodyPr wrap="none">
            <a:spAutoFit/>
          </a:bodyPr>
          <a:lstStyle/>
          <a:p>
            <a:pPr algn="ctr"/>
            <a:r>
              <a:rPr sz="1400" b="1">
                <a:latin typeface="Arial"/>
              </a:rPr>
              <a:t>Rainfall and crop yield show a correlation of 0.03; the scatter plot is used to examine their relationship.</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a:latin typeface="Arial"/>
              </a:rPr>
              <a:t>Future Scope</a:t>
            </a:r>
          </a:p>
          <a:p/>
          <a:p>
            <a:r>
              <a:rPr>
                <a:latin typeface="Arial"/>
              </a:rPr>
              <a:t>• Extend the analysis with more years and regions to study longer-term seasonal trends.</a:t>
            </a:r>
          </a:p>
          <a:p>
            <a:r>
              <a:rPr>
                <a:latin typeface="Arial"/>
              </a:rPr>
              <a:t>• Add market-price and weather forecasts for forward-looking planning.</a:t>
            </a:r>
          </a:p>
          <a:p>
            <a:r>
              <a:rPr>
                <a:latin typeface="Arial"/>
              </a:rPr>
              <a:t>• Build interactive dashboards for farmers and agricultural decision-makers.</a:t>
            </a:r>
          </a:p>
          <a:p>
            <a:r>
              <a:rPr>
                <a:latin typeface="Arial"/>
              </a:rPr>
              <a:t>• Develop predictive models for yield, profit, water demand and crop risk.</a:t>
            </a:r>
          </a:p>
          <a:p>
            <a:r>
              <a:rPr>
                <a:latin typeface="Arial"/>
              </a:rPr>
              <a:t>• Integrate real-time farm and environmental data for continuous monitoring.</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a:latin typeface="Arial"/>
              </a:rPr>
              <a:t>GitHub Link</a:t>
            </a:r>
          </a:p>
          <a:p/>
          <a:p>
            <a:r>
              <a:rPr>
                <a:latin typeface="Arial"/>
                <a:hlinkClick r:id="rId3"/>
              </a:rPr>
              <a:t>https://github.com/tejashanbhag5/Seasonal_Agriculture_Performance_Analysis</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latin typeface="Arial"/>
                <a:hlinkClick r:id="rId3"/>
              </a:rPr>
              <a:t>https://github.com/tejashanbhag5/Seasonal_Agriculture_Performance_Analysis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a:latin typeface="Arial"/>
              </a:rPr>
              <a:t>VOIS Course completion certificate</a:t>
            </a:r>
          </a:p>
          <a:p/>
          <a:p>
            <a:r>
              <a:rPr>
                <a:latin typeface="Arial"/>
              </a:rPr>
              <a:t>Course name – Data Visualization</a:t>
            </a:r>
          </a:p>
          <a:p/>
          <a:p>
            <a:r>
              <a:rPr>
                <a:latin typeface="Arial"/>
              </a:rPr>
              <a:t>[Insert your Data Visualization certificate image/PDF here]</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latin typeface="Aria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latin typeface="Arial"/>
              </a:rPr>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latin typeface="Arial"/>
              </a:rPr>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1356</TotalTime>
  <Words>202</Words>
  <Application>Microsoft Office PowerPoint</Application>
  <PresentationFormat>Widescreen</PresentationFormat>
  <Paragraphs>26</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vt:lpstr>
      <vt:lpstr>PROBLEM  STATEMENT</vt:lpstr>
      <vt:lpstr>Project Description [write detail description about your project ]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98</cp:revision>
  <dcterms:created xsi:type="dcterms:W3CDTF">2021-07-11T13:13:15Z</dcterms:created>
  <dcterms:modified xsi:type="dcterms:W3CDTF">2026-09-04T02:42:44Z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